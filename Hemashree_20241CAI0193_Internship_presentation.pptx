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github.com/Hemashree218/n8n-workflows.git" TargetMode="External"/><Relationship Id="rId2" Type="http://schemas.openxmlformats.org/officeDocument/2006/relationships/hyperlink" Target="https://github.com/Hemashree218/Pytest-Practice.git" TargetMode="External"/><Relationship Id="rId1" Type="http://schemas.openxmlformats.org/officeDocument/2006/relationships/hyperlink" Target="https://github.com/Hemashree218/Elmeasure_Internship.git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Times New Roman" panose="02020603050405020304"/>
              </a:rPr>
              <a:t>Under the Supervision of,</a:t>
            </a:r>
            <a:endParaRPr sz="1800" b="1" i="0">
              <a:solidFill>
                <a:srgbClr val="1F3864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Times New Roman" panose="02020603050405020304"/>
              </a:rPr>
              <a:t>Ms. Harika P</a:t>
            </a:r>
            <a:endParaRPr sz="1400" b="1" i="0">
              <a:solidFill>
                <a:srgbClr val="1F3864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Times New Roman" panose="02020603050405020304"/>
              </a:rPr>
              <a:t>Assistant Professor</a:t>
            </a:r>
            <a:endParaRPr sz="1400" b="0" i="0">
              <a:solidFill>
                <a:srgbClr val="1F3864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Times New Roman" panose="02020603050405020304"/>
              </a:rPr>
              <a:t>Presidency School of Artificial Intelligence &amp; Advanced Computing</a:t>
            </a:r>
            <a:endParaRPr sz="1400" b="0" i="0">
              <a:solidFill>
                <a:srgbClr val="1F3864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Times New Roman" panose="02020603050405020304"/>
              </a:rPr>
              <a:t>Presidency University</a:t>
            </a:r>
            <a:endParaRPr sz="1400" b="0" i="0">
              <a:solidFill>
                <a:srgbClr val="1F3864"/>
              </a:solidFill>
              <a:latin typeface="Times New Roman" panose="020206030504050203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0070C0"/>
                </a:solidFill>
                <a:latin typeface="Times New Roman" panose="02020603050405020304"/>
              </a:rPr>
              <a:t>Name of the Program: 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B.Tech in Computer Science and Engineering (A</a:t>
            </a:r>
            <a:r>
              <a:rPr lang="en-IN" sz="1400" b="0">
                <a:solidFill>
                  <a:srgbClr val="1A1A1A"/>
                </a:solidFill>
                <a:latin typeface="Times New Roman" panose="02020603050405020304"/>
              </a:rPr>
              <a:t>rtificial Intelligence &amp; Machine Learning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)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0070C0"/>
                </a:solidFill>
                <a:latin typeface="Times New Roman" panose="02020603050405020304"/>
              </a:rPr>
              <a:t>Name of the HoD: 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Dr. Zafar Ali Khan N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0070C0"/>
                </a:solidFill>
                <a:latin typeface="Times New Roman" panose="02020603050405020304"/>
              </a:rPr>
              <a:t>Name of the Program Internship Coordinator: 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Mr. Anandan B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0070C0"/>
                </a:solidFill>
                <a:latin typeface="Times New Roman" panose="02020603050405020304"/>
              </a:rPr>
              <a:t>Name of the School Internship Coordinator: </a:t>
            </a:r>
            <a:r>
              <a:rPr sz="1400" b="0">
                <a:solidFill>
                  <a:srgbClr val="1A1A1A"/>
                </a:solidFill>
                <a:latin typeface="Times New Roman" panose="02020603050405020304"/>
              </a:rPr>
              <a:t>Dr. Geetha Arjunan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45720"/>
            <a:ext cx="1051560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INDUSTRY INTERNSHIP AT ELMEASURE INDIA PVT. LTD.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sz="1700" b="1">
                <a:solidFill>
                  <a:srgbClr val="1F3864"/>
                </a:solidFill>
                <a:latin typeface="Times New Roman" panose="02020603050405020304"/>
              </a:rPr>
              <a:t>Software Testing, Automation &amp; AI Workflow Automation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HEMASHREE S</a:t>
                      </a:r>
                      <a:endParaRPr sz="1600" b="1">
                        <a:solidFill>
                          <a:srgbClr val="1A1A1A"/>
                        </a:solidFill>
                        <a:latin typeface="Times New Roman" panose="02020603050405020304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20241CAI0193</a:t>
                      </a:r>
                      <a:endParaRPr sz="1600" b="1">
                        <a:solidFill>
                          <a:srgbClr val="1A1A1A"/>
                        </a:solidFill>
                        <a:latin typeface="Times New Roman" panose="02020603050405020304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5CAI04</a:t>
                      </a:r>
                      <a:endParaRPr sz="1600" b="1">
                        <a:solidFill>
                          <a:srgbClr val="1A1A1A"/>
                        </a:solidFill>
                        <a:latin typeface="Times New Roman" panose="020206030504050203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Content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005840" y="1143000"/>
            <a:ext cx="100584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About the Company/Organisation</a:t>
            </a:r>
            <a:endParaRPr lang="en-US" sz="19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domain or the technology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About your team and reporting Manager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Challenges Faced in Internship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 of the work</a:t>
            </a:r>
            <a:endParaRPr lang="en-IN" sz="19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Internship Roadmap</a:t>
            </a:r>
            <a:endParaRPr lang="en-IN" sz="19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Github Link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</a:pPr>
            <a:endParaRPr sz="190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About Elmeasure India Pvt. Ltd.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2423160" cy="7772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0070C0"/>
                </a:solidFill>
                <a:latin typeface="Times New Roman" panose="02020603050405020304"/>
              </a:rPr>
              <a:t>2004</a:t>
            </a:r>
            <a:endParaRPr sz="20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444444"/>
                </a:solidFill>
                <a:latin typeface="Times New Roman" panose="02020603050405020304"/>
              </a:rPr>
              <a:t>Founded</a:t>
            </a:r>
            <a:endParaRPr sz="13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83279" y="118872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98448"/>
            <a:ext cx="2423160" cy="7772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0070C0"/>
                </a:solidFill>
                <a:latin typeface="Times New Roman" panose="02020603050405020304"/>
              </a:rPr>
              <a:t>Bengaluru</a:t>
            </a:r>
            <a:endParaRPr sz="20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444444"/>
                </a:solidFill>
                <a:latin typeface="Times New Roman" panose="02020603050405020304"/>
              </a:rPr>
              <a:t>Headquarters, Karnataka</a:t>
            </a:r>
            <a:endParaRPr sz="13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18872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98448"/>
            <a:ext cx="2423160" cy="7772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0070C0"/>
                </a:solidFill>
                <a:latin typeface="Times New Roman" panose="02020603050405020304"/>
              </a:rPr>
              <a:t>65+</a:t>
            </a:r>
            <a:endParaRPr sz="20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444444"/>
                </a:solidFill>
                <a:latin typeface="Times New Roman" panose="02020603050405020304"/>
              </a:rPr>
              <a:t>Countries served</a:t>
            </a:r>
            <a:endParaRPr sz="13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61120" y="118872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298448"/>
            <a:ext cx="2423160" cy="7772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0070C0"/>
                </a:solidFill>
                <a:latin typeface="Times New Roman" panose="02020603050405020304"/>
              </a:rPr>
              <a:t>50K+</a:t>
            </a:r>
            <a:endParaRPr sz="20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444444"/>
                </a:solidFill>
                <a:latin typeface="Times New Roman" panose="02020603050405020304"/>
              </a:rPr>
              <a:t>Satisfied clients</a:t>
            </a:r>
            <a:endParaRPr sz="13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" y="233172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50592"/>
            <a:ext cx="10607040" cy="7772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1F3864"/>
                </a:solidFill>
                <a:latin typeface="Times New Roman" panose="02020603050405020304"/>
              </a:rPr>
              <a:t>Smart &amp; Sustainable Energy Management</a:t>
            </a:r>
            <a:endParaRPr sz="17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Energy and power monitoring solutions for industries and businesses, with 7M+ products deployed in the field across 25+ industries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1097280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0070C0"/>
                </a:solidFill>
                <a:latin typeface="Times New Roman" panose="02020603050405020304"/>
              </a:rPr>
              <a:t>Key Solution Areas</a:t>
            </a:r>
            <a:endParaRPr sz="1800" b="1" i="0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3913632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Energy &amp; Power Monitoring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25496" y="3913632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IoT Energy Management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56631" y="3913632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Power Quality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287767" y="3913632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Industrial Communication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18903" y="3913632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Electrical Control Solutions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Elmeasure — Technology &amp; Impact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371600"/>
            <a:ext cx="4800600" cy="438912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Technology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617720" cy="2286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IoT-enabled energy management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Real-time monitoring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Industrial network gateways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Cloud connectivity for remote access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Software-driven energy solutions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4800600" cy="438912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Impact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617720" cy="2286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Improved energy visibility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Better operational efficiency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Reduced energy waste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Support for sustainable energy management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Working Domain &amp; Technologies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3538728" cy="3246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353312"/>
            <a:ext cx="3209544" cy="566928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Software Testing &amp; Automation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3026664" cy="21945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Manual web testing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Selenium WebDriver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PyTest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Page Object Model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06824" y="1188720"/>
            <a:ext cx="3538728" cy="3246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1353312"/>
            <a:ext cx="3209544" cy="566928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Development &amp; Engineering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2856" y="2057400"/>
            <a:ext cx="3026664" cy="21945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Python &amp; OOP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SQL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Git &amp; GitHub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Jenkins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PyCharm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19288" y="1188720"/>
            <a:ext cx="3538728" cy="3246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1353312"/>
            <a:ext cx="3209544" cy="566928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Workflow Automation &amp; AI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5319" y="2057400"/>
            <a:ext cx="3026664" cy="21945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n8n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JavaScript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Google Sheets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Gmail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603050405020304"/>
              </a:rPr>
              <a:t>•  AI workflow concepts</a:t>
            </a:r>
            <a:endParaRPr sz="16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About the Team &amp; Reporting Manager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234440"/>
            <a:ext cx="4572000" cy="53035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Elmeasure India Pvt. Ltd.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3172968" y="1801368"/>
            <a:ext cx="146304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67128"/>
            <a:ext cx="4572000" cy="53035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Testing / Technical Team</a:t>
            </a:r>
            <a:endParaRPr sz="1400" b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3172968" y="2734056"/>
            <a:ext cx="146304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099816"/>
            <a:ext cx="4572000" cy="53035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Reporting Manager — Kevin</a:t>
            </a:r>
            <a:endParaRPr sz="1400" b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3172968" y="3666744"/>
            <a:ext cx="146304" cy="20116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032504"/>
            <a:ext cx="4572000" cy="53035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Hemashree — Intern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1234440"/>
            <a:ext cx="5074920" cy="1572768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435608"/>
            <a:ext cx="4617720" cy="12344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Times New Roman" panose="02020603050405020304"/>
              </a:rPr>
              <a:t>Testing &amp; Automation</a:t>
            </a:r>
            <a:endParaRPr sz="17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Selenium   • PyTest   • Git / GitHub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92240" y="3017520"/>
            <a:ext cx="5074920" cy="1572768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218688"/>
            <a:ext cx="4617720" cy="12344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Times New Roman" panose="02020603050405020304"/>
              </a:rPr>
              <a:t>AI Department Exposure</a:t>
            </a:r>
            <a:endParaRPr sz="17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n8n   • JavaScript   • Google Sheets   • Gmail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Challenges Faced During the Internship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5193792" cy="155448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4736592" cy="12344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Times New Roman" panose="02020603050405020304"/>
              </a:rPr>
              <a:t>1.  Adapting to a New Workplace</a:t>
            </a:r>
            <a:endParaRPr sz="17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Only intern in the Testing team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Interacting with experienced employees was new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Gradually improved communication and confidence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193792" cy="155448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353312"/>
            <a:ext cx="4736592" cy="12344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Times New Roman" panose="02020603050405020304"/>
              </a:rPr>
              <a:t>2.  Long Daily Commute</a:t>
            </a:r>
            <a:endParaRPr sz="17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Around 5–6 hours of daily travel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Required disciplined time management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2880360"/>
            <a:ext cx="5193792" cy="155448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4736592" cy="12344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Times New Roman" panose="02020603050405020304"/>
              </a:rPr>
              <a:t>3.  Limited Structured Guidance</a:t>
            </a:r>
            <a:endParaRPr sz="17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No single dedicated trainer throughout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Relied on self-learning and timely guidance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5193792" cy="155448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044952"/>
            <a:ext cx="4736592" cy="12344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Times New Roman" panose="02020603050405020304"/>
              </a:rPr>
              <a:t>4.  Adapting to Multiple Technologies</a:t>
            </a:r>
            <a:endParaRPr sz="17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Python, Selenium, PyTest, Git, SQL, Jenkins, n8n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 panose="02020603050405020304"/>
              </a:rPr>
              <a:t>•  Required continuous learning</a:t>
            </a:r>
            <a:endParaRPr sz="14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Objectives of the Internship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468112" cy="9326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47218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1380744"/>
            <a:ext cx="4526280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</a:rPr>
              <a:t>Gain hands-on experience in real-world software testing and development workflows</a:t>
            </a:r>
            <a:endParaRPr sz="15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468112" cy="9326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01968" y="147218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3760" y="1380744"/>
            <a:ext cx="4526280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</a:rPr>
              <a:t>Strengthen Python and OOP fundamentals</a:t>
            </a:r>
            <a:endParaRPr sz="15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2331720"/>
            <a:ext cx="5468112" cy="9326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" y="2569463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20" y="2478024"/>
            <a:ext cx="4526280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</a:rPr>
              <a:t>Develop web automation using Selenium, PyTest and Page Object Model</a:t>
            </a:r>
            <a:endParaRPr sz="15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0" y="2331720"/>
            <a:ext cx="5468112" cy="9326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01968" y="2569463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4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60" y="2478024"/>
            <a:ext cx="4526280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</a:rPr>
              <a:t>Learn Git &amp; GitHub practices and SQL fundamentals</a:t>
            </a:r>
            <a:endParaRPr sz="15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3429000"/>
            <a:ext cx="5468112" cy="9326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" y="366674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5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17320" y="3575304"/>
            <a:ext cx="4526280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</a:rPr>
              <a:t>Explore workflow automation and AI applications using n8n</a:t>
            </a:r>
            <a:endParaRPr sz="15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0" y="3429000"/>
            <a:ext cx="5468112" cy="9326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01968" y="366674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6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23760" y="3575304"/>
            <a:ext cx="4526280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</a:rPr>
              <a:t>Improve self-learning, problem-solving and technical communication</a:t>
            </a:r>
            <a:endParaRPr sz="15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Internship Roadmap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10972800" cy="3175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1207008"/>
            <a:ext cx="1188720" cy="402336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WEEK 1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1837944" y="1572768"/>
            <a:ext cx="164592" cy="164592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2651760" cy="251460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29968"/>
            <a:ext cx="2322576" cy="2240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Times New Roman" panose="02020603050405020304"/>
              </a:rPr>
              <a:t>Exploration &amp; Testing</a:t>
            </a: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Application familiarization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Manual testing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Bug identification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OOP / OSI basics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33672" y="1207008"/>
            <a:ext cx="1188720" cy="402336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WEEK 2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700016" y="1572768"/>
            <a:ext cx="164592" cy="164592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874519"/>
            <a:ext cx="2651760" cy="251460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029968"/>
            <a:ext cx="2322576" cy="2240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Times New Roman" panose="02020603050405020304"/>
              </a:rPr>
              <a:t>Python &amp; Test Automation</a:t>
            </a: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Python &amp; OOP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Selenium WebDriver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PyTest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Page Object Model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095744" y="1207008"/>
            <a:ext cx="1188720" cy="402336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WEEK 3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562088" y="1572768"/>
            <a:ext cx="164592" cy="164592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874519"/>
            <a:ext cx="2651760" cy="251460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2029968"/>
            <a:ext cx="2322576" cy="2240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Times New Roman" panose="02020603050405020304"/>
              </a:rPr>
              <a:t>Development &amp; Data</a:t>
            </a: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Git &amp; GitHub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Branching &amp; merging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SQL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Jenkins basics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957815" y="1207008"/>
            <a:ext cx="1188720" cy="402336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WEEK 4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424159" y="1572768"/>
            <a:ext cx="164592" cy="164592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1874519"/>
            <a:ext cx="2651760" cy="251460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7" y="2029968"/>
            <a:ext cx="2322576" cy="2240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Times New Roman" panose="02020603050405020304"/>
              </a:rPr>
              <a:t>AI &amp; Workflow Automation</a:t>
            </a: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n8n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JavaScript workflow logic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Google Sheets &amp; Gmail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44444"/>
                </a:solidFill>
                <a:latin typeface="Times New Roman" panose="02020603050405020304"/>
              </a:rPr>
              <a:t>•  AI workflow exposure</a:t>
            </a:r>
            <a:endParaRPr sz="135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070C0"/>
                </a:solidFill>
                <a:latin typeface="Times New Roman" panose="02020603050405020304"/>
              </a:rPr>
              <a:t>Project 1 — ShopperStack Web Automation</a:t>
            </a:r>
            <a:endParaRPr sz="28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731520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1">
                <a:solidFill>
                  <a:srgbClr val="1F3864"/>
                </a:solidFill>
                <a:latin typeface="Times New Roman" panose="02020603050405020304"/>
              </a:rPr>
              <a:t>Selenium + PyTest + Page Object Model</a:t>
            </a:r>
            <a:endParaRPr sz="1500" b="1" i="1">
              <a:solidFill>
                <a:srgbClr val="1F3864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7589520" cy="93268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54480"/>
            <a:ext cx="7223760" cy="7315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 i="0">
                <a:solidFill>
                  <a:srgbClr val="0070C0"/>
                </a:solidFill>
                <a:latin typeface="Times New Roman" panose="02020603050405020304"/>
              </a:rPr>
              <a:t>Objective</a:t>
            </a:r>
            <a:endParaRPr sz="16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Automate the login and selected navigation workflows of the ShopperStack web application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2487168"/>
            <a:ext cx="7589520" cy="731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15184"/>
            <a:ext cx="722376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 i="0">
                <a:solidFill>
                  <a:srgbClr val="0070C0"/>
                </a:solidFill>
                <a:latin typeface="Times New Roman" panose="02020603050405020304"/>
              </a:rPr>
              <a:t>Technologies</a:t>
            </a:r>
            <a:endParaRPr sz="16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Python  |  Selenium  |  PyTest  |  POM  |  PyCharm  |  Git/GitHub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3355848"/>
            <a:ext cx="7589520" cy="1399032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474720"/>
            <a:ext cx="7223760" cy="11887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 i="0">
                <a:solidFill>
                  <a:srgbClr val="0070C0"/>
                </a:solidFill>
                <a:latin typeface="Times New Roman" panose="02020603050405020304"/>
              </a:rPr>
              <a:t>Major Activities</a:t>
            </a:r>
            <a:endParaRPr sz="16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444444"/>
                </a:solidFill>
                <a:latin typeface="Times New Roman" panose="02020603050405020304"/>
              </a:rPr>
              <a:t>•  Automated login        •  Parameterized login testing</a:t>
            </a:r>
            <a:endParaRPr sz="14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444444"/>
                </a:solidFill>
                <a:latin typeface="Times New Roman" panose="02020603050405020304"/>
              </a:rPr>
              <a:t>•  Page Object Model implementation        •  Hover / menu interaction</a:t>
            </a:r>
            <a:endParaRPr sz="145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450" b="0" i="0">
                <a:solidFill>
                  <a:srgbClr val="444444"/>
                </a:solidFill>
                <a:latin typeface="Times New Roman" panose="02020603050405020304"/>
              </a:rPr>
              <a:t>•  Screenshot capture        •  PyTest execution</a:t>
            </a:r>
            <a:endParaRPr sz="145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320040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070C0"/>
                </a:solidFill>
                <a:latin typeface="Times New Roman" panose="02020603050405020304"/>
              </a:rPr>
              <a:t>Framework Architecture</a:t>
            </a:r>
            <a:endParaRPr sz="1500" b="1" i="0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>
                <a:solidFill>
                  <a:srgbClr val="1A1A1A"/>
                </a:solidFill>
                <a:latin typeface="Times New Roman" panose="02020603050405020304"/>
              </a:rPr>
              <a:t>Test Case</a:t>
            </a:r>
            <a:endParaRPr sz="1350" b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9893808" y="2267712"/>
            <a:ext cx="146304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42316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0">
                <a:solidFill>
                  <a:srgbClr val="1A1A1A"/>
                </a:solidFill>
                <a:latin typeface="Times New Roman" panose="02020603050405020304"/>
              </a:rPr>
              <a:t>LoginPage / MenPage</a:t>
            </a:r>
            <a:endParaRPr sz="135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9893808" y="2907791"/>
            <a:ext cx="146304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3063239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0">
                <a:solidFill>
                  <a:srgbClr val="1A1A1A"/>
                </a:solidFill>
                <a:latin typeface="Times New Roman" panose="02020603050405020304"/>
              </a:rPr>
              <a:t>BasePage</a:t>
            </a:r>
            <a:endParaRPr sz="135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9893808" y="3547872"/>
            <a:ext cx="146304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60" y="370332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0">
                <a:solidFill>
                  <a:srgbClr val="1A1A1A"/>
                </a:solidFill>
                <a:latin typeface="Times New Roman" panose="02020603050405020304"/>
              </a:rPr>
              <a:t>Selenium WebDriver</a:t>
            </a:r>
            <a:endParaRPr sz="135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9893808" y="4187952"/>
            <a:ext cx="146304" cy="146304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66760" y="434340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Times New Roman" panose="02020603050405020304"/>
              </a:rPr>
              <a:t>ShopperStack</a:t>
            </a:r>
            <a:endParaRPr sz="1350" b="1">
              <a:solidFill>
                <a:srgbClr val="FFFFFF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Project 1 — Live Demonstration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673352" cy="123444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490472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1" i="0">
                <a:solidFill>
                  <a:srgbClr val="0070C0"/>
                </a:solidFill>
                <a:latin typeface="Times New Roman" panose="02020603050405020304"/>
              </a:rPr>
              <a:t>1</a:t>
            </a:r>
            <a:endParaRPr sz="22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Times New Roman" panose="02020603050405020304"/>
              </a:rPr>
              <a:t>Launch ShopperStack</a:t>
            </a:r>
            <a:endParaRPr sz="13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304288" y="2322576"/>
            <a:ext cx="201168" cy="14630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4600" y="1783080"/>
            <a:ext cx="1673352" cy="123444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965960"/>
            <a:ext cx="1490472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1" i="0">
                <a:solidFill>
                  <a:srgbClr val="0070C0"/>
                </a:solidFill>
                <a:latin typeface="Times New Roman" panose="02020603050405020304"/>
              </a:rPr>
              <a:t>2</a:t>
            </a:r>
            <a:endParaRPr sz="22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Times New Roman" panose="02020603050405020304"/>
              </a:rPr>
              <a:t>Automate Login</a:t>
            </a:r>
            <a:endParaRPr sz="13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224528" y="2322576"/>
            <a:ext cx="201168" cy="14630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1673352" cy="123444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1965960"/>
            <a:ext cx="1490472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1" i="0">
                <a:solidFill>
                  <a:srgbClr val="0070C0"/>
                </a:solidFill>
                <a:latin typeface="Times New Roman" panose="02020603050405020304"/>
              </a:rPr>
              <a:t>3</a:t>
            </a:r>
            <a:endParaRPr sz="22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Times New Roman" panose="02020603050405020304"/>
              </a:rPr>
              <a:t>Navigate to MEN</a:t>
            </a:r>
            <a:endParaRPr sz="13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144768" y="2322576"/>
            <a:ext cx="201168" cy="14630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79" y="1783080"/>
            <a:ext cx="1673352" cy="123444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1965960"/>
            <a:ext cx="1490472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1" i="0">
                <a:solidFill>
                  <a:srgbClr val="0070C0"/>
                </a:solidFill>
                <a:latin typeface="Times New Roman" panose="02020603050405020304"/>
              </a:rPr>
              <a:t>4</a:t>
            </a:r>
            <a:endParaRPr sz="22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Times New Roman" panose="02020603050405020304"/>
              </a:rPr>
              <a:t>Hover over Menu</a:t>
            </a:r>
            <a:endParaRPr sz="13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065008" y="2322576"/>
            <a:ext cx="201168" cy="14630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1783080"/>
            <a:ext cx="1673352" cy="123444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965960"/>
            <a:ext cx="1490472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1" i="0">
                <a:solidFill>
                  <a:srgbClr val="0070C0"/>
                </a:solidFill>
                <a:latin typeface="Times New Roman" panose="02020603050405020304"/>
              </a:rPr>
              <a:t>5</a:t>
            </a:r>
            <a:endParaRPr sz="22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Times New Roman" panose="02020603050405020304"/>
              </a:rPr>
              <a:t>Select T-Shirt</a:t>
            </a:r>
            <a:endParaRPr sz="13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9985247" y="2322576"/>
            <a:ext cx="201168" cy="14630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95559" y="1783080"/>
            <a:ext cx="1673352" cy="123444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999" y="1965960"/>
            <a:ext cx="1490472" cy="9144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1" i="0">
                <a:solidFill>
                  <a:srgbClr val="0070C0"/>
                </a:solidFill>
                <a:latin typeface="Times New Roman" panose="02020603050405020304"/>
              </a:rPr>
              <a:t>6</a:t>
            </a:r>
            <a:endParaRPr sz="2200" b="1" i="0">
              <a:solidFill>
                <a:srgbClr val="0070C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Times New Roman" panose="02020603050405020304"/>
              </a:rPr>
              <a:t>Capture Screenshot</a:t>
            </a:r>
            <a:endParaRPr sz="13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3566160"/>
            <a:ext cx="4434840" cy="8686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3712463"/>
            <a:ext cx="406908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 panose="02020603050405020304"/>
              </a:rPr>
              <a:t>Live Demonstration</a:t>
            </a:r>
            <a:endParaRPr sz="2000" b="1" i="0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 i="0">
                <a:solidFill>
                  <a:srgbClr val="DDE6F2"/>
                </a:solidFill>
                <a:latin typeface="Times New Roman" panose="02020603050405020304"/>
              </a:rPr>
              <a:t>Switching to PyCharm / Browser</a:t>
            </a:r>
            <a:endParaRPr sz="1350" b="0" i="0">
              <a:solidFill>
                <a:srgbClr val="DDE6F2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070C0"/>
                </a:solidFill>
                <a:latin typeface="Times New Roman" panose="02020603050405020304"/>
              </a:rPr>
              <a:t>Project 2 — n8n Email Workflow Automation</a:t>
            </a:r>
            <a:endParaRPr sz="28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5074920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25880"/>
            <a:ext cx="4709160" cy="8229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 i="0">
                <a:solidFill>
                  <a:srgbClr val="0070C0"/>
                </a:solidFill>
                <a:latin typeface="Times New Roman" panose="02020603050405020304"/>
              </a:rPr>
              <a:t>Objective</a:t>
            </a:r>
            <a:endParaRPr sz="16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Automate personalized email delivery based on user information and mail type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331720"/>
            <a:ext cx="5074920" cy="2103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468880"/>
            <a:ext cx="4709160" cy="187451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 i="0">
                <a:solidFill>
                  <a:srgbClr val="0070C0"/>
                </a:solidFill>
                <a:latin typeface="Times New Roman" panose="02020603050405020304"/>
              </a:rPr>
              <a:t>Technologies</a:t>
            </a:r>
            <a:endParaRPr sz="16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444444"/>
                </a:solidFill>
                <a:latin typeface="Times New Roman" panose="02020603050405020304"/>
              </a:rPr>
              <a:t>•  n8n Cloud</a:t>
            </a:r>
            <a:endParaRPr sz="15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444444"/>
                </a:solidFill>
                <a:latin typeface="Times New Roman" panose="02020603050405020304"/>
              </a:rPr>
              <a:t>•  Google Sheets</a:t>
            </a:r>
            <a:endParaRPr sz="15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444444"/>
                </a:solidFill>
                <a:latin typeface="Times New Roman" panose="02020603050405020304"/>
              </a:rPr>
              <a:t>•  Gmail</a:t>
            </a:r>
            <a:endParaRPr sz="15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444444"/>
                </a:solidFill>
                <a:latin typeface="Times New Roman" panose="02020603050405020304"/>
              </a:rPr>
              <a:t>•  JavaScript &amp; expressions</a:t>
            </a:r>
            <a:endParaRPr sz="1500" b="0" i="0">
              <a:solidFill>
                <a:srgbClr val="44444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444444"/>
                </a:solidFill>
                <a:latin typeface="Times New Roman" panose="02020603050405020304"/>
              </a:rPr>
              <a:t>•  IF / Switch nodes</a:t>
            </a:r>
            <a:endParaRPr sz="1500" b="0" i="0">
              <a:solidFill>
                <a:srgbClr val="444444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1170432"/>
            <a:ext cx="562356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0070C0"/>
                </a:solidFill>
                <a:latin typeface="Times New Roman" panose="02020603050405020304"/>
              </a:rPr>
              <a:t>Workflow Logic</a:t>
            </a:r>
            <a:endParaRPr sz="1500" b="1" i="0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0" y="1536192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Times New Roman" panose="02020603050405020304"/>
              </a:rPr>
              <a:t>Google Sheets</a:t>
            </a:r>
            <a:endParaRPr sz="13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7127748" y="1993391"/>
            <a:ext cx="146304" cy="10972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2103120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Check SEND STATUS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7127748" y="2560320"/>
            <a:ext cx="146304" cy="10972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0" y="2670048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IF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7127748" y="3127248"/>
            <a:ext cx="146304" cy="10972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3236976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Loop Over Items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7127748" y="3694176"/>
            <a:ext cx="146304" cy="10972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0" y="3803904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Switch by Mail / User Type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052560" y="1536192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Select Template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10236708" y="1993391"/>
            <a:ext cx="146304" cy="10972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2103120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Personalize {{NAME}}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10236708" y="2560320"/>
            <a:ext cx="146304" cy="10972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52560" y="2670048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Times New Roman" panose="02020603050405020304"/>
              </a:rPr>
              <a:t>Gmail</a:t>
            </a:r>
            <a:endParaRPr sz="13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10236708" y="3127248"/>
            <a:ext cx="146304" cy="109728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2560" y="3236976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 panose="02020603050405020304"/>
              </a:rPr>
              <a:t>Update SEND STATUS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8549640" y="1673351"/>
            <a:ext cx="384048" cy="164592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Project 2 — Workflow Demonstration</a:t>
            </a:r>
            <a:endParaRPr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5806440" cy="3246120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5440680" cy="2971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Times New Roman" panose="02020603050405020304"/>
              </a:rPr>
              <a:t>Execution Walkthrough</a:t>
            </a:r>
            <a:endParaRPr sz="17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 Input data read from Google Sheets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 Filter pending / unsent users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 Switch logic by mail and user type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 Email template selection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 Dynamic personalization of content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 Gmail sending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603050405020304"/>
              </a:rPr>
              <a:t>•  SEND STATUS updated back to the sheet</a:t>
            </a:r>
            <a:endParaRPr sz="150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9400" y="1188720"/>
            <a:ext cx="4937760" cy="17830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353312"/>
            <a:ext cx="4526280" cy="1508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Times New Roman" panose="02020603050405020304"/>
              </a:rPr>
              <a:t>Personalization Example</a:t>
            </a:r>
            <a:endParaRPr sz="1700" b="1" i="0">
              <a:solidFill>
                <a:srgbClr val="0070C0"/>
              </a:solidFill>
              <a:latin typeface="Times New Roman" panose="02020603050405020304"/>
            </a:endParaRP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Times New Roman" panose="02020603050405020304"/>
              </a:rPr>
              <a:t>Input:  </a:t>
            </a:r>
            <a:r>
              <a:rPr sz="1500">
                <a:solidFill>
                  <a:srgbClr val="1A1A1A"/>
                </a:solidFill>
                <a:latin typeface="Times New Roman" panose="02020603050405020304"/>
              </a:rPr>
              <a:t>NAME = Hema</a:t>
            </a:r>
            <a:endParaRPr sz="150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Times New Roman" panose="02020603050405020304"/>
              </a:rPr>
              <a:t>Template:  </a:t>
            </a:r>
            <a:r>
              <a:rPr sz="1500">
                <a:solidFill>
                  <a:srgbClr val="1A1A1A"/>
                </a:solidFill>
                <a:latin typeface="Times New Roman" panose="02020603050405020304"/>
              </a:rPr>
              <a:t>Hello {{NAME}}</a:t>
            </a:r>
            <a:endParaRPr sz="150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900"/>
              </a:spcBef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Times New Roman" panose="02020603050405020304"/>
              </a:rPr>
              <a:t>Output:  </a:t>
            </a:r>
            <a:r>
              <a:rPr sz="1500">
                <a:solidFill>
                  <a:srgbClr val="1A1A1A"/>
                </a:solidFill>
                <a:latin typeface="Times New Roman" panose="02020603050405020304"/>
              </a:rPr>
              <a:t>Hello Hema</a:t>
            </a:r>
            <a:endParaRPr sz="150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29400" y="3108960"/>
            <a:ext cx="49377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6D3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n8n_work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0035" y="3084830"/>
            <a:ext cx="4986020" cy="22682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" y="274320"/>
            <a:ext cx="10972800" cy="461645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3000" b="1">
                <a:solidFill>
                  <a:srgbClr val="0070C0"/>
                </a:solidFill>
                <a:latin typeface="Times New Roman" panose="02020603050405020304"/>
              </a:rPr>
              <a:t>GitHub </a:t>
            </a:r>
            <a:r>
              <a:rPr lang="en-IN" sz="3000" b="1">
                <a:solidFill>
                  <a:srgbClr val="0070C0"/>
                </a:solidFill>
                <a:latin typeface="Times New Roman" panose="02020603050405020304"/>
              </a:rPr>
              <a:t>Link</a:t>
            </a:r>
            <a:endParaRPr lang="en-IN" sz="30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15240"/>
          </a:xfrm>
          <a:prstGeom prst="rect">
            <a:avLst/>
          </a:prstGeom>
          <a:solidFill>
            <a:srgbClr val="B6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10579735" cy="2745105"/>
          </a:xfrm>
          <a:prstGeom prst="roundRect">
            <a:avLst>
              <a:gd name="adj" fmla="val 6000"/>
            </a:avLst>
          </a:prstGeom>
          <a:solidFill>
            <a:srgbClr val="EBF3FB"/>
          </a:solidFill>
          <a:ln w="12700">
            <a:solidFill>
              <a:srgbClr val="B6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53185"/>
            <a:ext cx="9688830" cy="193611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Times New Roman" panose="02020603050405020304"/>
              </a:rPr>
              <a:t>Internship Work</a:t>
            </a: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en-US" sz="1500" b="1" i="0">
                <a:solidFill>
                  <a:srgbClr val="1F3864"/>
                </a:solidFill>
                <a:latin typeface="Times New Roman" panose="02020603050405020304"/>
                <a:hlinkClick r:id="rId1" action="ppaction://hlinkfile"/>
              </a:rPr>
              <a:t>https://github.com/Hemashree218/Elmeasure_Internship.git</a:t>
            </a:r>
            <a:endParaRPr lang="en-US" altLang="en-US"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Times New Roman" panose="02020603050405020304"/>
              </a:rPr>
              <a:t>PyTest Practice</a:t>
            </a: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en-US" sz="1500" b="1" i="0">
                <a:solidFill>
                  <a:srgbClr val="1F3864"/>
                </a:solidFill>
                <a:latin typeface="Times New Roman" panose="02020603050405020304"/>
                <a:hlinkClick r:id="rId2" action="ppaction://hlinkfile"/>
              </a:rPr>
              <a:t>https://github.com/Hemashree218/Pytest-Practice.git</a:t>
            </a:r>
            <a:endParaRPr lang="en-US" altLang="en-US"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Times New Roman" panose="02020603050405020304"/>
              </a:rPr>
              <a:t>n8n Workflows</a:t>
            </a:r>
            <a:endParaRPr sz="1500" b="1" i="0">
              <a:solidFill>
                <a:srgbClr val="1F3864"/>
              </a:solidFill>
              <a:latin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en-US" sz="1500" b="1" i="0">
                <a:solidFill>
                  <a:srgbClr val="1F3864"/>
                </a:solidFill>
                <a:latin typeface="Times New Roman" panose="02020603050405020304"/>
                <a:hlinkClick r:id="rId3" action="ppaction://hlinkfile"/>
              </a:rPr>
              <a:t>https://github.com/Hemashree218/n8n-workflows.git</a:t>
            </a:r>
            <a:r>
              <a:rPr lang="en-IN" altLang="en-US" sz="1500" b="1" i="0">
                <a:solidFill>
                  <a:srgbClr val="1F3864"/>
                </a:solidFill>
                <a:latin typeface="Times New Roman" panose="02020603050405020304"/>
              </a:rPr>
              <a:t> </a:t>
            </a:r>
            <a:endParaRPr lang="en-IN" altLang="en-US" sz="1500" b="1" i="0">
              <a:solidFill>
                <a:srgbClr val="1F3864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878" y="215161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828800"/>
          </a:xfrm>
        </p:spPr>
        <p:txBody>
          <a:bodyPr/>
          <a:lstStyle/>
          <a:p>
            <a:pPr algn="ctr">
              <a:buNone/>
            </a:pPr>
            <a:r>
              <a:rPr sz="6000" b="1">
                <a:solidFill>
                  <a:srgbClr val="A71180"/>
                </a:solidFill>
                <a:latin typeface="Times New Roman" panose="02020603050405020304"/>
              </a:rPr>
              <a:t>THANK YOU</a:t>
            </a:r>
            <a:endParaRPr sz="6000" b="1">
              <a:solidFill>
                <a:srgbClr val="A71180"/>
              </a:solidFill>
              <a:latin typeface="Times New Roman" panose="02020603050405020304"/>
            </a:endParaRPr>
          </a:p>
          <a:p>
            <a:pPr algn="ctr">
              <a:spcBef>
                <a:spcPts val="1400"/>
              </a:spcBef>
              <a:buNone/>
            </a:pPr>
            <a:endParaRPr sz="2000">
              <a:solidFill>
                <a:srgbClr val="1F3864"/>
              </a:solidFill>
              <a:latin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5141</Words>
  <Application>WPS Presentation</Application>
  <PresentationFormat>Widescreen</PresentationFormat>
  <Paragraphs>351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Verdana</vt:lpstr>
      <vt:lpstr>Arial</vt:lpstr>
      <vt:lpstr>Times New Roman</vt:lpstr>
      <vt:lpstr>Tahoma</vt:lpstr>
      <vt:lpstr>Cambria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hemas</cp:lastModifiedBy>
  <cp:revision>722</cp:revision>
  <dcterms:created xsi:type="dcterms:W3CDTF">2022-10-14T07:18:00Z</dcterms:created>
  <dcterms:modified xsi:type="dcterms:W3CDTF">2026-08-22T01:13:46Z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F26A5A5A881D4E0CB66C5A01E48007E2_13</vt:lpwstr>
  </property>
</Properties>
</file>